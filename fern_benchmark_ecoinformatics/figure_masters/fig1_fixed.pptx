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1687175" cy="12211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2"/>
  </p:normalViewPr>
  <p:slideViewPr>
    <p:cSldViewPr snapToGrid="0">
      <p:cViewPr>
        <p:scale>
          <a:sx n="93" d="100"/>
          <a:sy n="93" d="100"/>
        </p:scale>
        <p:origin x="14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B602E7C-285D-4D07-ADEC-5704319446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Vector reconstruction of the supplied diagram "Real-world Fern Identification".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Photographic content (field photograph, herbarium sheet, thumbnails) is embedded as an image crop from the source figure; credits as printed: Photo: Cynthia Su (CC BY); US National Herbarium, Smithsonian Institution (CC0).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boxes, arrows, dividers, icons and text are native, editable PowerPoint objects.</a:t>
            </a:r>
          </a:p>
        </p:txBody>
      </p:sp>
      <p:sp>
        <p:nvSpPr>
          <p:cNvPr id="30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84280" y="487080"/>
            <a:ext cx="10517760" cy="20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84280" y="2857320"/>
            <a:ext cx="10517760" cy="708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/>
        </p:nvPicPr>
        <p:blipFill>
          <a:blip r:embed="rId3"/>
          <a:stretch/>
        </p:blipFill>
        <p:spPr>
          <a:xfrm>
            <a:off x="190440" y="142920"/>
            <a:ext cx="11305800" cy="59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矩形 10"/>
          <p:cNvSpPr/>
          <p:nvPr/>
        </p:nvSpPr>
        <p:spPr>
          <a:xfrm>
            <a:off x="2505240" y="60480"/>
            <a:ext cx="6667200" cy="46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170" b="1" u="none" strike="noStrike">
                <a:solidFill>
                  <a:srgbClr val="152230"/>
                </a:solidFill>
                <a:effectLst/>
                <a:uFillTx/>
                <a:latin typeface="Arial"/>
                <a:ea typeface="Arial"/>
              </a:rPr>
              <a:t>Real-world Fern Identification</a:t>
            </a:r>
            <a:endParaRPr lang="en-US" sz="217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19360" y="411120"/>
            <a:ext cx="7238520" cy="3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From research benchmark to field-ready AI — a falsification framework</a:t>
            </a:r>
            <a:endParaRPr lang="en-US" sz="15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505400" y="743040"/>
            <a:ext cx="18720" cy="66240"/>
          </a:xfrm>
          <a:prstGeom prst="roundRect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200" rIns="90000" bIns="162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三角形 13"/>
          <p:cNvSpPr/>
          <p:nvPr/>
        </p:nvSpPr>
        <p:spPr>
          <a:xfrm rot="10800000">
            <a:off x="4443840" y="805320"/>
            <a:ext cx="123480" cy="85320"/>
          </a:xfrm>
          <a:prstGeom prst="triangle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410760" y="743040"/>
            <a:ext cx="18720" cy="66240"/>
          </a:xfrm>
          <a:prstGeom prst="roundRect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200" rIns="90000" bIns="162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三角形 15"/>
          <p:cNvSpPr/>
          <p:nvPr/>
        </p:nvSpPr>
        <p:spPr>
          <a:xfrm rot="10800000">
            <a:off x="9349200" y="805320"/>
            <a:ext cx="123480" cy="85320"/>
          </a:xfrm>
          <a:prstGeom prst="triangle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90440" y="876240"/>
            <a:ext cx="5190840" cy="1561680"/>
          </a:xfrm>
          <a:prstGeom prst="roundRect">
            <a:avLst>
              <a:gd name="adj" fmla="val 7317"/>
            </a:avLst>
          </a:prstGeom>
          <a:solidFill>
            <a:srgbClr val="F4F8F4"/>
          </a:solidFill>
          <a:ln w="14288">
            <a:solidFill>
              <a:srgbClr val="A9C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90440" y="876240"/>
            <a:ext cx="5190840" cy="304560"/>
          </a:xfrm>
          <a:prstGeom prst="roundRect">
            <a:avLst>
              <a:gd name="adj" fmla="val 37500"/>
            </a:avLst>
          </a:prstGeom>
          <a:solidFill>
            <a:srgbClr val="CDE3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0440" y="1066680"/>
            <a:ext cx="5190840" cy="114120"/>
          </a:xfrm>
          <a:prstGeom prst="rect">
            <a:avLst/>
          </a:prstGeom>
          <a:solidFill>
            <a:srgbClr val="CDE3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57200" y="945360"/>
            <a:ext cx="24760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B6B52"/>
                </a:solidFill>
                <a:effectLst/>
                <a:uFillTx/>
                <a:latin typeface="Arial"/>
                <a:ea typeface="Arial"/>
              </a:rPr>
              <a:t>FIELD PHOTOGRAPH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33360" y="1228680"/>
            <a:ext cx="2457000" cy="1123560"/>
          </a:xfrm>
          <a:prstGeom prst="roundRect">
            <a:avLst>
              <a:gd name="adj" fmla="val 5085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62440" y="1310040"/>
            <a:ext cx="247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Natural scene ·</a:t>
            </a:r>
            <a:endParaRPr lang="en-US" sz="12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962440" y="1557720"/>
            <a:ext cx="247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uncontrolled framing</a:t>
            </a:r>
            <a:endParaRPr lang="en-US" sz="12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952720" y="1909728"/>
            <a:ext cx="247608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750" b="1" u="none" strike="noStrike" dirty="0">
                <a:solidFill>
                  <a:srgbClr val="8A949C"/>
                </a:solidFill>
                <a:effectLst/>
                <a:uFillTx/>
                <a:latin typeface="Arial"/>
                <a:ea typeface="Arial"/>
              </a:rPr>
              <a:t>Photo: Cynthia Su · CC BY</a:t>
            </a:r>
            <a:endParaRPr lang="en-US" sz="7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286680" y="885960"/>
            <a:ext cx="5219280" cy="1542600"/>
          </a:xfrm>
          <a:prstGeom prst="roundRect">
            <a:avLst>
              <a:gd name="adj" fmla="val 7407"/>
            </a:avLst>
          </a:prstGeom>
          <a:solidFill>
            <a:srgbClr val="F4F8FB"/>
          </a:solidFill>
          <a:ln w="14288">
            <a:solidFill>
              <a:srgbClr val="7FA8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286680" y="885960"/>
            <a:ext cx="5219280" cy="304560"/>
          </a:xfrm>
          <a:prstGeom prst="roundRect">
            <a:avLst>
              <a:gd name="adj" fmla="val 37500"/>
            </a:avLst>
          </a:prstGeom>
          <a:solidFill>
            <a:srgbClr val="CCDD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286680" y="1076400"/>
            <a:ext cx="5219280" cy="114120"/>
          </a:xfrm>
          <a:prstGeom prst="rect">
            <a:avLst/>
          </a:prstGeom>
          <a:solidFill>
            <a:srgbClr val="CCDD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572160" y="954720"/>
            <a:ext cx="24760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3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HERBARIUM SHEET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图片 28"/>
          <p:cNvPicPr/>
          <p:nvPr/>
        </p:nvPicPr>
        <p:blipFill>
          <a:blip r:embed="rId5"/>
          <a:stretch/>
        </p:blipFill>
        <p:spPr>
          <a:xfrm>
            <a:off x="6305400" y="1190520"/>
            <a:ext cx="2323800" cy="11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矩形 29"/>
          <p:cNvSpPr/>
          <p:nvPr/>
        </p:nvSpPr>
        <p:spPr>
          <a:xfrm>
            <a:off x="8934480" y="1310040"/>
            <a:ext cx="247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Standardized specimen ·</a:t>
            </a:r>
            <a:endParaRPr lang="en-US" sz="12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934480" y="1557720"/>
            <a:ext cx="247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machine-readable label</a:t>
            </a:r>
            <a:endParaRPr lang="en-US" sz="12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896320" y="1871568"/>
            <a:ext cx="266652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750" b="1" u="none" strike="noStrike" dirty="0">
                <a:solidFill>
                  <a:srgbClr val="8A949C"/>
                </a:solidFill>
                <a:effectLst/>
                <a:uFillTx/>
                <a:latin typeface="Arial"/>
                <a:ea typeface="Arial"/>
              </a:rPr>
              <a:t>US National Herbarium, Smithsonian Institution · CC0</a:t>
            </a:r>
            <a:endParaRPr lang="en-US" sz="7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左右箭头 32"/>
          <p:cNvSpPr/>
          <p:nvPr/>
        </p:nvSpPr>
        <p:spPr>
          <a:xfrm>
            <a:off x="5610240" y="1438200"/>
            <a:ext cx="456840" cy="3236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B7C7D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505240" y="2590920"/>
            <a:ext cx="666720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70" i="1" u="none" strike="noStrike" dirty="0" err="1">
                <a:solidFill>
                  <a:srgbClr val="33454F"/>
                </a:solidFill>
                <a:effectLst/>
                <a:uFillTx/>
                <a:latin typeface="Georgia"/>
                <a:ea typeface="Georgia"/>
              </a:rPr>
              <a:t>Cyrtomium</a:t>
            </a:r>
            <a:r>
              <a:rPr lang="en-US" sz="1870" i="1" u="none" strike="noStrike" dirty="0">
                <a:solidFill>
                  <a:srgbClr val="33454F"/>
                </a:solidFill>
                <a:effectLst/>
                <a:uFillTx/>
                <a:latin typeface="Georgia"/>
                <a:ea typeface="Georgia"/>
              </a:rPr>
              <a:t> </a:t>
            </a:r>
            <a:r>
              <a:rPr lang="en-US" sz="1870" i="1" u="none" strike="noStrike" dirty="0" err="1">
                <a:solidFill>
                  <a:srgbClr val="33454F"/>
                </a:solidFill>
                <a:effectLst/>
                <a:uFillTx/>
                <a:latin typeface="Georgia"/>
                <a:ea typeface="Georgia"/>
              </a:rPr>
              <a:t>macrophyllum</a:t>
            </a:r>
            <a:r>
              <a:rPr lang="en-US" sz="1580" u="none" strike="noStrike" dirty="0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 (</a:t>
            </a:r>
            <a:r>
              <a:rPr lang="en-US" sz="1580" u="none" strike="noStrike" dirty="0" err="1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Dryopteridaceae</a:t>
            </a:r>
            <a:r>
              <a:rPr lang="en-US" sz="1580" u="none" strike="noStrike" dirty="0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58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5838840" y="2743200"/>
            <a:ext cx="18720" cy="114120"/>
          </a:xfrm>
          <a:prstGeom prst="roundRect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三角形 35"/>
          <p:cNvSpPr/>
          <p:nvPr/>
        </p:nvSpPr>
        <p:spPr>
          <a:xfrm rot="10800000">
            <a:off x="5777280" y="2853000"/>
            <a:ext cx="123480" cy="85320"/>
          </a:xfrm>
          <a:prstGeom prst="triangle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343320" y="2867040"/>
            <a:ext cx="4990680" cy="980640"/>
          </a:xfrm>
          <a:prstGeom prst="roundRect">
            <a:avLst>
              <a:gd name="adj" fmla="val 19417"/>
            </a:avLst>
          </a:prstGeom>
          <a:gradFill rotWithShape="0">
            <a:gsLst>
              <a:gs pos="0">
                <a:srgbClr val="E4EFFB"/>
              </a:gs>
              <a:gs pos="100000">
                <a:srgbClr val="FBFDFF"/>
              </a:gs>
            </a:gsLst>
            <a:lin ang="5400000"/>
          </a:gradFill>
          <a:ln w="14288">
            <a:solidFill>
              <a:srgbClr val="93B8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圆柱体 37"/>
          <p:cNvSpPr/>
          <p:nvPr/>
        </p:nvSpPr>
        <p:spPr>
          <a:xfrm>
            <a:off x="3883680" y="3076560"/>
            <a:ext cx="385920" cy="495000"/>
          </a:xfrm>
          <a:prstGeom prst="can">
            <a:avLst>
              <a:gd name="adj" fmla="val 25000"/>
            </a:avLst>
          </a:prstGeom>
          <a:solidFill>
            <a:srgbClr val="3D7A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883680" y="3264840"/>
            <a:ext cx="385920" cy="24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720" rIns="90000" bIns="-277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3883680" y="3408480"/>
            <a:ext cx="385920" cy="24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720" rIns="90000" bIns="-277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857760" y="3029040"/>
            <a:ext cx="3809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2E6DA4"/>
                </a:solidFill>
                <a:effectLst/>
                <a:uFillTx/>
                <a:latin typeface="Arial"/>
                <a:ea typeface="Arial"/>
              </a:rPr>
              <a:t>CONVENTIONAL BENCHMARK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000680" y="3228840"/>
            <a:ext cx="38095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2E6DA4"/>
                </a:solidFill>
                <a:effectLst/>
                <a:uFillTx/>
                <a:latin typeface="Arial"/>
                <a:ea typeface="Arial"/>
              </a:rPr>
              <a:t>91.4 ± 0.7%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29080" y="3563280"/>
            <a:ext cx="380952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5,969 images · 152 species · 30 families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5838840" y="3857760"/>
            <a:ext cx="18720" cy="66240"/>
          </a:xfrm>
          <a:prstGeom prst="roundRect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200" rIns="90000" bIns="162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三角形 44"/>
          <p:cNvSpPr/>
          <p:nvPr/>
        </p:nvSpPr>
        <p:spPr>
          <a:xfrm rot="10800000">
            <a:off x="5777280" y="3920040"/>
            <a:ext cx="123480" cy="85320"/>
          </a:xfrm>
          <a:prstGeom prst="triangle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200480" y="4010040"/>
            <a:ext cx="3285720" cy="294840"/>
          </a:xfrm>
          <a:prstGeom prst="roundRect">
            <a:avLst>
              <a:gd name="adj" fmla="val 50000"/>
            </a:avLst>
          </a:prstGeom>
          <a:solidFill>
            <a:srgbClr val="3B6EA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314960" y="3992400"/>
            <a:ext cx="3047760" cy="3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Can we trust this number?</a:t>
            </a:r>
            <a:endParaRPr lang="en-US" sz="15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190440" y="4448160"/>
            <a:ext cx="5676480" cy="1657080"/>
          </a:xfrm>
          <a:prstGeom prst="roundRect">
            <a:avLst>
              <a:gd name="adj" fmla="val 8046"/>
            </a:avLst>
          </a:prstGeom>
          <a:solidFill>
            <a:srgbClr val="F6FBF7"/>
          </a:solidFill>
          <a:ln w="14288">
            <a:solidFill>
              <a:srgbClr val="6FB4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190440" y="4448160"/>
            <a:ext cx="5676480" cy="323640"/>
          </a:xfrm>
          <a:prstGeom prst="roundRect">
            <a:avLst>
              <a:gd name="adj" fmla="val 41176"/>
            </a:avLst>
          </a:prstGeom>
          <a:solidFill>
            <a:srgbClr val="E8F7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90440" y="4657680"/>
            <a:ext cx="5676480" cy="114120"/>
          </a:xfrm>
          <a:prstGeom prst="rect">
            <a:avLst/>
          </a:prstGeom>
          <a:solidFill>
            <a:srgbClr val="E8F7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266760" y="4476600"/>
            <a:ext cx="266400" cy="266400"/>
          </a:xfrm>
          <a:prstGeom prst="ellipse">
            <a:avLst/>
          </a:prstGeom>
          <a:solidFill>
            <a:srgbClr val="2E8B5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57040" y="449352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14240" y="4489920"/>
            <a:ext cx="400032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E7A50"/>
                </a:solidFill>
                <a:effectLst/>
                <a:uFillTx/>
                <a:latin typeface="Arial"/>
                <a:ea typeface="Arial"/>
              </a:rPr>
              <a:t>Both regimes represented during training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333360" y="4981680"/>
            <a:ext cx="704520" cy="666360"/>
          </a:xfrm>
          <a:prstGeom prst="roundRect">
            <a:avLst>
              <a:gd name="adj" fmla="val 10000"/>
            </a:avLst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038240" y="5085360"/>
            <a:ext cx="380520" cy="42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b="1" u="none" strike="noStrike">
                <a:solidFill>
                  <a:srgbClr val="35697A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9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1409760" y="4981680"/>
            <a:ext cx="704520" cy="666360"/>
          </a:xfrm>
          <a:prstGeom prst="roundRect">
            <a:avLst>
              <a:gd name="adj" fmla="val 4286"/>
            </a:avLst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右箭头 56"/>
          <p:cNvSpPr/>
          <p:nvPr/>
        </p:nvSpPr>
        <p:spPr>
          <a:xfrm>
            <a:off x="2286000" y="5048280"/>
            <a:ext cx="1476000" cy="495000"/>
          </a:xfrm>
          <a:prstGeom prst="rightArrow">
            <a:avLst>
              <a:gd name="adj1" fmla="val 0"/>
              <a:gd name="adj2" fmla="val 0"/>
            </a:avLst>
          </a:prstGeom>
          <a:solidFill>
            <a:srgbClr val="D5E5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00480" y="5133960"/>
            <a:ext cx="10472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2E5F5A"/>
                </a:solidFill>
                <a:effectLst/>
                <a:uFillTx/>
                <a:latin typeface="Arial"/>
                <a:ea typeface="Arial"/>
              </a:rPr>
              <a:t>BOTH REGIMES</a:t>
            </a:r>
            <a:endParaRPr lang="en-US" sz="82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820" b="1" u="none" strike="noStrike">
                <a:solidFill>
                  <a:srgbClr val="2E5F5A"/>
                </a:solidFill>
                <a:effectLst/>
                <a:uFillTx/>
                <a:latin typeface="Arial"/>
                <a:ea typeface="Arial"/>
              </a:rPr>
              <a:t>IN TRAINING</a:t>
            </a:r>
            <a:endParaRPr lang="en-US" sz="82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3733920" y="4971960"/>
            <a:ext cx="1009440" cy="475920"/>
          </a:xfrm>
          <a:prstGeom prst="roundRect">
            <a:avLst>
              <a:gd name="adj" fmla="val 14000"/>
            </a:avLst>
          </a:prstGeom>
          <a:solidFill>
            <a:srgbClr val="DDEBF3"/>
          </a:solidFill>
          <a:ln w="11430">
            <a:solidFill>
              <a:srgbClr val="A8C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762360" y="4979520"/>
            <a:ext cx="95220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HERBARIUM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762360" y="5139360"/>
            <a:ext cx="95220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0.9198</a:t>
            </a:r>
            <a:endParaRPr lang="en-US" sz="12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4762440" y="4971960"/>
            <a:ext cx="933120" cy="475920"/>
          </a:xfrm>
          <a:prstGeom prst="roundRect">
            <a:avLst>
              <a:gd name="adj" fmla="val 14000"/>
            </a:avLst>
          </a:prstGeom>
          <a:solidFill>
            <a:srgbClr val="DFF3E4"/>
          </a:solidFill>
          <a:ln w="11430">
            <a:solidFill>
              <a:srgbClr val="A8D8B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781520" y="4979520"/>
            <a:ext cx="8949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E7A50"/>
                </a:solidFill>
                <a:effectLst/>
                <a:uFillTx/>
                <a:latin typeface="Arial"/>
                <a:ea typeface="Arial"/>
              </a:rPr>
              <a:t>FIELD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4781520" y="5139360"/>
            <a:ext cx="89496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1E7A50"/>
                </a:solidFill>
                <a:effectLst/>
                <a:uFillTx/>
                <a:latin typeface="Arial"/>
                <a:ea typeface="Arial"/>
              </a:rPr>
              <a:t>0.9250</a:t>
            </a:r>
            <a:endParaRPr lang="en-US" sz="12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3743280" y="5410080"/>
            <a:ext cx="12960" cy="56880"/>
          </a:xfrm>
          <a:prstGeom prst="roundRect">
            <a:avLst>
              <a:gd name="adj" fmla="val 50000"/>
            </a:avLst>
          </a:prstGeom>
          <a:solidFill>
            <a:srgbClr val="9AA6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280" rIns="90000" bIns="828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3743280" y="5467320"/>
            <a:ext cx="1942920" cy="12960"/>
          </a:xfrm>
          <a:prstGeom prst="roundRect">
            <a:avLst>
              <a:gd name="adj" fmla="val 50000"/>
            </a:avLst>
          </a:prstGeom>
          <a:solidFill>
            <a:srgbClr val="9AA6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5686560" y="5410080"/>
            <a:ext cx="12960" cy="56880"/>
          </a:xfrm>
          <a:prstGeom prst="roundRect">
            <a:avLst>
              <a:gd name="adj" fmla="val 50000"/>
            </a:avLst>
          </a:prstGeom>
          <a:solidFill>
            <a:srgbClr val="9AA6B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280" rIns="90000" bIns="828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476520" y="5465880"/>
            <a:ext cx="247608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2A8480"/>
                </a:solidFill>
                <a:effectLst/>
                <a:uFillTx/>
                <a:latin typeface="Arial"/>
                <a:ea typeface="Arial"/>
              </a:rPr>
              <a:t>91.98% · 92.50%</a:t>
            </a:r>
            <a:endParaRPr lang="en-US" sz="14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058080" y="4448160"/>
            <a:ext cx="5447880" cy="1657080"/>
          </a:xfrm>
          <a:prstGeom prst="roundRect">
            <a:avLst>
              <a:gd name="adj" fmla="val 8046"/>
            </a:avLst>
          </a:prstGeom>
          <a:solidFill>
            <a:srgbClr val="FDF7F8"/>
          </a:solidFill>
          <a:ln w="14288">
            <a:solidFill>
              <a:srgbClr val="E9A0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6058080" y="4448160"/>
            <a:ext cx="5447880" cy="323640"/>
          </a:xfrm>
          <a:prstGeom prst="roundRect">
            <a:avLst>
              <a:gd name="adj" fmla="val 41176"/>
            </a:avLst>
          </a:prstGeom>
          <a:solidFill>
            <a:srgbClr val="FCF0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058080" y="4657680"/>
            <a:ext cx="5447880" cy="114120"/>
          </a:xfrm>
          <a:prstGeom prst="rect">
            <a:avLst/>
          </a:prstGeom>
          <a:solidFill>
            <a:srgbClr val="FCF0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6334200" y="4476600"/>
            <a:ext cx="266400" cy="266400"/>
          </a:xfrm>
          <a:prstGeom prst="ellipse">
            <a:avLst/>
          </a:prstGeom>
          <a:solidFill>
            <a:srgbClr val="C0395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324480" y="449352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705720" y="4489920"/>
            <a:ext cx="400032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0395B"/>
                </a:solidFill>
                <a:effectLst/>
                <a:uFillTx/>
                <a:latin typeface="Arial"/>
                <a:ea typeface="Arial"/>
              </a:rPr>
              <a:t>Domains separated between training and test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6505560" y="4829040"/>
            <a:ext cx="866520" cy="380520"/>
          </a:xfrm>
          <a:prstGeom prst="roundRect">
            <a:avLst>
              <a:gd name="adj" fmla="val 17500"/>
            </a:avLst>
          </a:prstGeom>
          <a:solidFill>
            <a:srgbClr val="E3F6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524640" y="4848120"/>
            <a:ext cx="818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E7A50"/>
                </a:solidFill>
                <a:effectLst/>
                <a:uFillTx/>
                <a:latin typeface="Arial"/>
                <a:ea typeface="Arial"/>
              </a:rPr>
              <a:t>TRAIN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E7A50"/>
                </a:solidFill>
                <a:effectLst/>
                <a:uFillTx/>
                <a:latin typeface="Arial"/>
                <a:ea typeface="Arial"/>
              </a:rPr>
              <a:t>FIELD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8248680" y="4829040"/>
            <a:ext cx="847440" cy="418680"/>
          </a:xfrm>
          <a:prstGeom prst="roundRect">
            <a:avLst>
              <a:gd name="adj" fmla="val 15909"/>
            </a:avLst>
          </a:prstGeom>
          <a:solidFill>
            <a:srgbClr val="D6E6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8258040" y="4848120"/>
            <a:ext cx="8186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TRAIN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HERBARIUM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505560" y="5553000"/>
            <a:ext cx="866520" cy="380520"/>
          </a:xfrm>
          <a:prstGeom prst="roundRect">
            <a:avLst>
              <a:gd name="adj" fmla="val 17500"/>
            </a:avLst>
          </a:prstGeom>
          <a:solidFill>
            <a:srgbClr val="D6E6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524640" y="5572080"/>
            <a:ext cx="818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TEST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F4E79"/>
                </a:solidFill>
                <a:effectLst/>
                <a:uFillTx/>
                <a:latin typeface="Arial"/>
                <a:ea typeface="Arial"/>
              </a:rPr>
              <a:t>HERBARIUM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8248680" y="5553000"/>
            <a:ext cx="847440" cy="380520"/>
          </a:xfrm>
          <a:prstGeom prst="roundRect">
            <a:avLst>
              <a:gd name="adj" fmla="val 17500"/>
            </a:avLst>
          </a:prstGeom>
          <a:solidFill>
            <a:srgbClr val="E3F6E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258040" y="5572080"/>
            <a:ext cx="818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E7A50"/>
                </a:solidFill>
                <a:effectLst/>
                <a:uFillTx/>
                <a:latin typeface="Arial"/>
                <a:ea typeface="Arial"/>
              </a:rPr>
              <a:t>TEST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00" b="1" u="none" strike="noStrike">
                <a:solidFill>
                  <a:srgbClr val="1E7A50"/>
                </a:solidFill>
                <a:effectLst/>
                <a:uFillTx/>
                <a:latin typeface="Arial"/>
                <a:ea typeface="Arial"/>
              </a:rPr>
              <a:t>FIELD</a:t>
            </a:r>
            <a:endParaRPr lang="en-US" sz="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上下箭头 82"/>
          <p:cNvSpPr/>
          <p:nvPr/>
        </p:nvSpPr>
        <p:spPr>
          <a:xfrm>
            <a:off x="6886440" y="5238720"/>
            <a:ext cx="95040" cy="2948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5B7A9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矩形 83"/>
          <p:cNvSpPr/>
          <p:nvPr/>
        </p:nvSpPr>
        <p:spPr>
          <a:xfrm rot="2700000">
            <a:off x="6838920" y="5364720"/>
            <a:ext cx="190080" cy="52200"/>
          </a:xfrm>
          <a:prstGeom prst="rect">
            <a:avLst/>
          </a:prstGeom>
          <a:solidFill>
            <a:srgbClr val="C430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矩形 84"/>
          <p:cNvSpPr/>
          <p:nvPr/>
        </p:nvSpPr>
        <p:spPr>
          <a:xfrm rot="18900000">
            <a:off x="6838560" y="5365080"/>
            <a:ext cx="190080" cy="52200"/>
          </a:xfrm>
          <a:prstGeom prst="rect">
            <a:avLst/>
          </a:prstGeom>
          <a:solidFill>
            <a:srgbClr val="C430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上下箭头 85"/>
          <p:cNvSpPr/>
          <p:nvPr/>
        </p:nvSpPr>
        <p:spPr>
          <a:xfrm>
            <a:off x="8620200" y="5238720"/>
            <a:ext cx="95040" cy="29484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5B7A9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矩形 86"/>
          <p:cNvSpPr/>
          <p:nvPr/>
        </p:nvSpPr>
        <p:spPr>
          <a:xfrm rot="2700000">
            <a:off x="8572320" y="5364720"/>
            <a:ext cx="190080" cy="52200"/>
          </a:xfrm>
          <a:prstGeom prst="rect">
            <a:avLst/>
          </a:prstGeom>
          <a:solidFill>
            <a:srgbClr val="C430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矩形 87"/>
          <p:cNvSpPr/>
          <p:nvPr/>
        </p:nvSpPr>
        <p:spPr>
          <a:xfrm rot="18900000">
            <a:off x="8572320" y="5365080"/>
            <a:ext cx="190080" cy="52200"/>
          </a:xfrm>
          <a:prstGeom prst="rect">
            <a:avLst/>
          </a:prstGeom>
          <a:solidFill>
            <a:srgbClr val="C430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560" rIns="90000" bIns="756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7791480" y="476244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7791480" y="485784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7791480" y="495288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7791480" y="504828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7791480" y="514368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7791480" y="523872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7791480" y="533412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7791480" y="542916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7791480" y="552456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7791480" y="561960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7791480" y="5715000"/>
            <a:ext cx="14760" cy="4716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7791480" y="5810400"/>
            <a:ext cx="14760" cy="18720"/>
          </a:xfrm>
          <a:prstGeom prst="roundRect">
            <a:avLst>
              <a:gd name="adj" fmla="val 50000"/>
            </a:avLst>
          </a:prstGeom>
          <a:solidFill>
            <a:srgbClr val="A8B4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381960" y="4817160"/>
            <a:ext cx="2285640" cy="40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C00D35"/>
                </a:solidFill>
                <a:effectLst/>
                <a:uFillTx/>
                <a:latin typeface="Arial"/>
                <a:ea typeface="Arial"/>
              </a:rPr>
              <a:t>0.4238–0.6538</a:t>
            </a:r>
            <a:endParaRPr lang="en-US" sz="187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9715680" y="5143680"/>
            <a:ext cx="1647360" cy="14760"/>
          </a:xfrm>
          <a:prstGeom prst="roundRect">
            <a:avLst>
              <a:gd name="adj" fmla="val 50000"/>
            </a:avLst>
          </a:prstGeom>
          <a:solidFill>
            <a:srgbClr val="C00D3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560" rIns="90000" bIns="-3456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9715680" y="5086440"/>
            <a:ext cx="12960" cy="56880"/>
          </a:xfrm>
          <a:prstGeom prst="roundRect">
            <a:avLst>
              <a:gd name="adj" fmla="val 50000"/>
            </a:avLst>
          </a:prstGeom>
          <a:solidFill>
            <a:srgbClr val="C00D3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280" rIns="90000" bIns="828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11363400" y="5086440"/>
            <a:ext cx="12960" cy="56880"/>
          </a:xfrm>
          <a:prstGeom prst="roundRect">
            <a:avLst>
              <a:gd name="adj" fmla="val 50000"/>
            </a:avLst>
          </a:prstGeom>
          <a:solidFill>
            <a:srgbClr val="C00D3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280" rIns="90000" bIns="828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10534680" y="5143680"/>
            <a:ext cx="12960" cy="56880"/>
          </a:xfrm>
          <a:prstGeom prst="roundRect">
            <a:avLst>
              <a:gd name="adj" fmla="val 50000"/>
            </a:avLst>
          </a:prstGeom>
          <a:solidFill>
            <a:srgbClr val="C00D3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280" rIns="90000" bIns="828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334440" y="5180040"/>
            <a:ext cx="228564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C00D35"/>
                </a:solidFill>
                <a:effectLst/>
                <a:uFillTx/>
                <a:latin typeface="Arial"/>
                <a:ea typeface="Arial"/>
              </a:rPr>
              <a:t>42.38%–65.38%</a:t>
            </a:r>
            <a:endParaRPr lang="en-US" sz="14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744120" y="5466960"/>
            <a:ext cx="1714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when the two regimes are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9744120" y="5609880"/>
            <a:ext cx="1714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separated between training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9744120" y="5752800"/>
            <a:ext cx="1714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and test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5838840" y="6124680"/>
            <a:ext cx="18720" cy="66240"/>
          </a:xfrm>
          <a:prstGeom prst="roundRect">
            <a:avLst>
              <a:gd name="adj" fmla="val 50000"/>
            </a:avLst>
          </a:prstGeom>
          <a:solidFill>
            <a:srgbClr val="B6C7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200" rIns="90000" bIns="162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三角形 110"/>
          <p:cNvSpPr/>
          <p:nvPr/>
        </p:nvSpPr>
        <p:spPr>
          <a:xfrm rot="10800000">
            <a:off x="5777280" y="6186960"/>
            <a:ext cx="123480" cy="85320"/>
          </a:xfrm>
          <a:prstGeom prst="triangle">
            <a:avLst>
              <a:gd name="adj" fmla="val 50000"/>
            </a:avLst>
          </a:prstGeom>
          <a:solidFill>
            <a:srgbClr val="B6C7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190440" y="6248520"/>
            <a:ext cx="11305800" cy="1361880"/>
          </a:xfrm>
          <a:prstGeom prst="roundRect">
            <a:avLst>
              <a:gd name="adj" fmla="val 9790"/>
            </a:avLst>
          </a:prstGeom>
          <a:solidFill>
            <a:srgbClr val="F4F3FC"/>
          </a:solidFill>
          <a:ln w="14288">
            <a:solidFill>
              <a:srgbClr val="B8B2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3362400" y="6285240"/>
            <a:ext cx="495252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30" b="1" u="none" strike="noStrike">
                <a:solidFill>
                  <a:srgbClr val="1B3350"/>
                </a:solidFill>
                <a:effectLst/>
                <a:uFillTx/>
                <a:latin typeface="Arial"/>
                <a:ea typeface="Arial"/>
              </a:rPr>
              <a:t>The performance collapse is real</a:t>
            </a:r>
            <a:endParaRPr lang="en-US" sz="14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1285920" y="6593760"/>
            <a:ext cx="285732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2E8B57"/>
                </a:solidFill>
                <a:effectLst/>
                <a:uFillTx/>
                <a:latin typeface="Arial"/>
                <a:ea typeface="Arial"/>
              </a:rPr>
              <a:t>MIXED-REGIME TRAINING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47520" y="6867000"/>
            <a:ext cx="142848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HERBARIUM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1638360" y="6905520"/>
            <a:ext cx="2609640" cy="142560"/>
          </a:xfrm>
          <a:prstGeom prst="roundRect">
            <a:avLst>
              <a:gd name="adj" fmla="val 46667"/>
            </a:avLst>
          </a:prstGeom>
          <a:solidFill>
            <a:srgbClr val="4D91C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334040" y="6867000"/>
            <a:ext cx="85680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3D7EB8"/>
                </a:solidFill>
                <a:effectLst/>
                <a:uFillTx/>
                <a:latin typeface="Arial"/>
                <a:ea typeface="Arial"/>
              </a:rPr>
              <a:t>0.9198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209520" y="7133760"/>
            <a:ext cx="85680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FIELD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1638360" y="7172280"/>
            <a:ext cx="2609640" cy="142560"/>
          </a:xfrm>
          <a:prstGeom prst="roundRect">
            <a:avLst>
              <a:gd name="adj" fmla="val 46667"/>
            </a:avLst>
          </a:prstGeom>
          <a:solidFill>
            <a:srgbClr val="47B08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4334040" y="7133760"/>
            <a:ext cx="85680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2E9B6B"/>
                </a:solidFill>
                <a:effectLst/>
                <a:uFillTx/>
                <a:latin typeface="Arial"/>
                <a:ea typeface="Arial"/>
              </a:rPr>
              <a:t>0.9250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5838840" y="657216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5838840" y="666756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5838840" y="676260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5838840" y="685800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圆角矩形 124"/>
          <p:cNvSpPr/>
          <p:nvPr/>
        </p:nvSpPr>
        <p:spPr>
          <a:xfrm>
            <a:off x="5838840" y="695340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圆角矩形 125"/>
          <p:cNvSpPr/>
          <p:nvPr/>
        </p:nvSpPr>
        <p:spPr>
          <a:xfrm>
            <a:off x="5838840" y="704844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5838840" y="714384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5838840" y="723888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圆角矩形 128"/>
          <p:cNvSpPr/>
          <p:nvPr/>
        </p:nvSpPr>
        <p:spPr>
          <a:xfrm>
            <a:off x="5838840" y="733428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圆角矩形 129"/>
          <p:cNvSpPr/>
          <p:nvPr/>
        </p:nvSpPr>
        <p:spPr>
          <a:xfrm>
            <a:off x="5838840" y="7429680"/>
            <a:ext cx="14040" cy="47160"/>
          </a:xfrm>
          <a:prstGeom prst="roundRect">
            <a:avLst>
              <a:gd name="adj" fmla="val 50000"/>
            </a:avLst>
          </a:prstGeom>
          <a:solidFill>
            <a:srgbClr val="B7C2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7077240" y="6593760"/>
            <a:ext cx="304776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C0395B"/>
                </a:solidFill>
                <a:effectLst/>
                <a:uFillTx/>
                <a:latin typeface="Arial"/>
                <a:ea typeface="Arial"/>
              </a:rPr>
              <a:t>SEPARATED TRAINING → TEST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5915160" y="6867000"/>
            <a:ext cx="142848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HERBARIUM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7572240" y="6905520"/>
            <a:ext cx="1114200" cy="142560"/>
          </a:xfrm>
          <a:prstGeom prst="roundRect">
            <a:avLst>
              <a:gd name="adj" fmla="val 46667"/>
            </a:avLst>
          </a:prstGeom>
          <a:solidFill>
            <a:srgbClr val="E074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8686800" y="6905520"/>
            <a:ext cx="475920" cy="142560"/>
          </a:xfrm>
          <a:prstGeom prst="roundRect">
            <a:avLst>
              <a:gd name="adj" fmla="val 46667"/>
            </a:avLst>
          </a:prstGeom>
          <a:solidFill>
            <a:srgbClr val="F8DC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9248760" y="6859080"/>
            <a:ext cx="142848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C0395B"/>
                </a:solidFill>
                <a:effectLst/>
                <a:uFillTx/>
                <a:latin typeface="Arial"/>
                <a:ea typeface="Arial"/>
              </a:rPr>
              <a:t>0.4238–0.6538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5477040" y="7133760"/>
            <a:ext cx="142848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FIELD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7572240" y="7172280"/>
            <a:ext cx="1114200" cy="142560"/>
          </a:xfrm>
          <a:prstGeom prst="roundRect">
            <a:avLst>
              <a:gd name="adj" fmla="val 46667"/>
            </a:avLst>
          </a:prstGeom>
          <a:solidFill>
            <a:srgbClr val="E074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8686800" y="7172280"/>
            <a:ext cx="475920" cy="142560"/>
          </a:xfrm>
          <a:prstGeom prst="roundRect">
            <a:avLst>
              <a:gd name="adj" fmla="val 46667"/>
            </a:avLst>
          </a:prstGeom>
          <a:solidFill>
            <a:srgbClr val="F8DC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248760" y="7125480"/>
            <a:ext cx="142848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C0395B"/>
                </a:solidFill>
                <a:effectLst/>
                <a:uFillTx/>
                <a:latin typeface="Arial"/>
                <a:ea typeface="Arial"/>
              </a:rPr>
              <a:t>0.4238–0.6538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5838840" y="7610400"/>
            <a:ext cx="18720" cy="75960"/>
          </a:xfrm>
          <a:prstGeom prst="roundRect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920" rIns="90000" bIns="259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三角形 140"/>
          <p:cNvSpPr/>
          <p:nvPr/>
        </p:nvSpPr>
        <p:spPr>
          <a:xfrm rot="10800000">
            <a:off x="5777280" y="7682400"/>
            <a:ext cx="123480" cy="85320"/>
          </a:xfrm>
          <a:prstGeom prst="triangle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190440" y="7772400"/>
            <a:ext cx="11305800" cy="971280"/>
          </a:xfrm>
          <a:prstGeom prst="roundRect">
            <a:avLst>
              <a:gd name="adj" fmla="val 13725"/>
            </a:avLst>
          </a:prstGeom>
          <a:solidFill>
            <a:srgbClr val="FDF7F1"/>
          </a:solidFill>
          <a:ln w="14288">
            <a:solidFill>
              <a:srgbClr val="F5C0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190440" y="7772400"/>
            <a:ext cx="11305800" cy="313920"/>
          </a:xfrm>
          <a:prstGeom prst="roundRect">
            <a:avLst>
              <a:gd name="adj" fmla="val 42424"/>
            </a:avLst>
          </a:prstGeom>
          <a:solidFill>
            <a:srgbClr val="FDF0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190440" y="7972560"/>
            <a:ext cx="11305800" cy="114120"/>
          </a:xfrm>
          <a:prstGeom prst="rect">
            <a:avLst/>
          </a:prstGeom>
          <a:solidFill>
            <a:srgbClr val="FDF0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椭圆 144"/>
          <p:cNvSpPr/>
          <p:nvPr/>
        </p:nvSpPr>
        <p:spPr>
          <a:xfrm>
            <a:off x="266760" y="7791480"/>
            <a:ext cx="266400" cy="266400"/>
          </a:xfrm>
          <a:prstGeom prst="ellipse">
            <a:avLst/>
          </a:prstGeom>
          <a:solidFill>
            <a:srgbClr val="E178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257040" y="780804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714240" y="7795440"/>
            <a:ext cx="380952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2691E"/>
                </a:solidFill>
                <a:effectLst/>
                <a:uFillTx/>
                <a:latin typeface="Arial"/>
                <a:ea typeface="Arial"/>
              </a:rPr>
              <a:t>Three hidden assumptions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652320" y="8148600"/>
            <a:ext cx="352080" cy="352080"/>
          </a:xfrm>
          <a:prstGeom prst="roundRect">
            <a:avLst>
              <a:gd name="adj" fmla="val 8108"/>
            </a:avLst>
          </a:prstGeom>
          <a:noFill/>
          <a:ln w="30480">
            <a:solidFill>
              <a:srgbClr val="E178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任意形状 148"/>
          <p:cNvSpPr/>
          <p:nvPr/>
        </p:nvSpPr>
        <p:spPr>
          <a:xfrm>
            <a:off x="673560" y="8296560"/>
            <a:ext cx="239400" cy="147600"/>
          </a:xfrm>
          <a:custGeom>
            <a:avLst/>
            <a:gdLst/>
            <a:ahLst/>
            <a:cxnLst/>
            <a:rect l="l" t="t" r="r" b="b"/>
            <a:pathLst>
              <a:path w="239649" h="148019">
                <a:moveTo>
                  <a:pt x="0" y="148019"/>
                </a:moveTo>
                <a:lnTo>
                  <a:pt x="119824" y="0"/>
                </a:lnTo>
                <a:lnTo>
                  <a:pt x="239649" y="148019"/>
                </a:lnTo>
                <a:close/>
              </a:path>
            </a:pathLst>
          </a:custGeom>
          <a:solidFill>
            <a:srgbClr val="E178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任意形状 149"/>
          <p:cNvSpPr/>
          <p:nvPr/>
        </p:nvSpPr>
        <p:spPr>
          <a:xfrm>
            <a:off x="807480" y="8345880"/>
            <a:ext cx="175680" cy="98280"/>
          </a:xfrm>
          <a:custGeom>
            <a:avLst/>
            <a:gdLst/>
            <a:ahLst/>
            <a:cxnLst/>
            <a:rect l="l" t="t" r="r" b="b"/>
            <a:pathLst>
              <a:path w="176213" h="98679">
                <a:moveTo>
                  <a:pt x="0" y="98679"/>
                </a:moveTo>
                <a:lnTo>
                  <a:pt x="84582" y="0"/>
                </a:lnTo>
                <a:lnTo>
                  <a:pt x="176213" y="98679"/>
                </a:lnTo>
                <a:close/>
              </a:path>
            </a:pathLst>
          </a:custGeom>
          <a:solidFill>
            <a:srgbClr val="E178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椭圆 150"/>
          <p:cNvSpPr/>
          <p:nvPr/>
        </p:nvSpPr>
        <p:spPr>
          <a:xfrm>
            <a:off x="736920" y="8219160"/>
            <a:ext cx="66600" cy="66600"/>
          </a:xfrm>
          <a:prstGeom prst="ellipse">
            <a:avLst/>
          </a:prstGeom>
          <a:solidFill>
            <a:srgbClr val="E178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" rIns="90000" bIns="216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1247760" y="8116200"/>
            <a:ext cx="285732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D2691E"/>
                </a:solidFill>
                <a:effectLst/>
                <a:uFillTx/>
                <a:latin typeface="Arial"/>
                <a:ea typeface="Arial"/>
              </a:rPr>
              <a:t>Image domain assumption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1247760" y="8324280"/>
            <a:ext cx="2857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Training and test images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1247760" y="8476920"/>
            <a:ext cx="2857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share the same distribution.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椭圆 154"/>
          <p:cNvSpPr/>
          <p:nvPr/>
        </p:nvSpPr>
        <p:spPr>
          <a:xfrm>
            <a:off x="4238640" y="8153280"/>
            <a:ext cx="342720" cy="342720"/>
          </a:xfrm>
          <a:prstGeom prst="ellipse">
            <a:avLst/>
          </a:prstGeom>
          <a:noFill/>
          <a:ln w="24765">
            <a:solidFill>
              <a:srgbClr val="E178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4338000" y="8153280"/>
            <a:ext cx="143640" cy="342720"/>
          </a:xfrm>
          <a:prstGeom prst="ellipse">
            <a:avLst/>
          </a:prstGeom>
          <a:noFill/>
          <a:ln w="24765">
            <a:solidFill>
              <a:srgbClr val="E178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4248000" y="8242560"/>
            <a:ext cx="323640" cy="24480"/>
          </a:xfrm>
          <a:prstGeom prst="roundRect">
            <a:avLst>
              <a:gd name="adj" fmla="val 50000"/>
            </a:avLst>
          </a:prstGeom>
          <a:solidFill>
            <a:srgbClr val="E178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720" rIns="90000" bIns="-2772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4248000" y="8407080"/>
            <a:ext cx="323640" cy="24480"/>
          </a:xfrm>
          <a:prstGeom prst="roundRect">
            <a:avLst>
              <a:gd name="adj" fmla="val 50000"/>
            </a:avLst>
          </a:prstGeom>
          <a:solidFill>
            <a:srgbClr val="E178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720" rIns="90000" bIns="-2772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4705200" y="8116200"/>
            <a:ext cx="285732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D2691E"/>
                </a:solidFill>
                <a:effectLst/>
                <a:uFillTx/>
                <a:latin typeface="Arial"/>
                <a:ea typeface="Arial"/>
              </a:rPr>
              <a:t>Geography assumption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4705200" y="8324280"/>
            <a:ext cx="2857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Species, locations and environments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4705200" y="8476920"/>
            <a:ext cx="2857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are consistent across splits.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8080920" y="8163000"/>
            <a:ext cx="258840" cy="323640"/>
          </a:xfrm>
          <a:prstGeom prst="roundRect">
            <a:avLst>
              <a:gd name="adj" fmla="val 7353"/>
            </a:avLst>
          </a:prstGeom>
          <a:solidFill>
            <a:srgbClr val="E178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圆角矩形 162"/>
          <p:cNvSpPr/>
          <p:nvPr/>
        </p:nvSpPr>
        <p:spPr>
          <a:xfrm>
            <a:off x="8122320" y="8227800"/>
            <a:ext cx="175680" cy="2268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圆角矩形 163"/>
          <p:cNvSpPr/>
          <p:nvPr/>
        </p:nvSpPr>
        <p:spPr>
          <a:xfrm>
            <a:off x="8122320" y="8292600"/>
            <a:ext cx="175680" cy="2268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8122320" y="8357400"/>
            <a:ext cx="175680" cy="2268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圆角矩形 165"/>
          <p:cNvSpPr/>
          <p:nvPr/>
        </p:nvSpPr>
        <p:spPr>
          <a:xfrm>
            <a:off x="8122320" y="8421840"/>
            <a:ext cx="108360" cy="2268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8534520" y="8116200"/>
            <a:ext cx="285732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D2691E"/>
                </a:solidFill>
                <a:effectLst/>
                <a:uFillTx/>
                <a:latin typeface="Arial"/>
                <a:ea typeface="Arial"/>
              </a:rPr>
              <a:t>Text leakage assumption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8534520" y="8324280"/>
            <a:ext cx="2857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Metadata, labels or context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8534520" y="8476920"/>
            <a:ext cx="285732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may leak across splits.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圆角矩形 169"/>
          <p:cNvSpPr/>
          <p:nvPr/>
        </p:nvSpPr>
        <p:spPr>
          <a:xfrm>
            <a:off x="7539120" y="8191440"/>
            <a:ext cx="12960" cy="37800"/>
          </a:xfrm>
          <a:prstGeom prst="roundRect">
            <a:avLst>
              <a:gd name="adj" fmla="val 50000"/>
            </a:avLst>
          </a:prstGeom>
          <a:solidFill>
            <a:srgbClr val="DDD8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7539120" y="8267760"/>
            <a:ext cx="12960" cy="37800"/>
          </a:xfrm>
          <a:prstGeom prst="roundRect">
            <a:avLst>
              <a:gd name="adj" fmla="val 50000"/>
            </a:avLst>
          </a:prstGeom>
          <a:solidFill>
            <a:srgbClr val="DDD8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7539120" y="8344080"/>
            <a:ext cx="12960" cy="37800"/>
          </a:xfrm>
          <a:prstGeom prst="roundRect">
            <a:avLst>
              <a:gd name="adj" fmla="val 50000"/>
            </a:avLst>
          </a:prstGeom>
          <a:solidFill>
            <a:srgbClr val="DDD8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7539120" y="8420040"/>
            <a:ext cx="12960" cy="37800"/>
          </a:xfrm>
          <a:prstGeom prst="roundRect">
            <a:avLst>
              <a:gd name="adj" fmla="val 50000"/>
            </a:avLst>
          </a:prstGeom>
          <a:solidFill>
            <a:srgbClr val="DDD8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7539120" y="8496360"/>
            <a:ext cx="12960" cy="37800"/>
          </a:xfrm>
          <a:prstGeom prst="roundRect">
            <a:avLst>
              <a:gd name="adj" fmla="val 50000"/>
            </a:avLst>
          </a:prstGeom>
          <a:solidFill>
            <a:srgbClr val="DDD8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圆角矩形 174"/>
          <p:cNvSpPr/>
          <p:nvPr/>
        </p:nvSpPr>
        <p:spPr>
          <a:xfrm>
            <a:off x="7539120" y="8572680"/>
            <a:ext cx="12960" cy="37800"/>
          </a:xfrm>
          <a:prstGeom prst="roundRect">
            <a:avLst>
              <a:gd name="adj" fmla="val 50000"/>
            </a:avLst>
          </a:prstGeom>
          <a:solidFill>
            <a:srgbClr val="DDD8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圆角矩形 175"/>
          <p:cNvSpPr/>
          <p:nvPr/>
        </p:nvSpPr>
        <p:spPr>
          <a:xfrm>
            <a:off x="7539120" y="8648640"/>
            <a:ext cx="12960" cy="37800"/>
          </a:xfrm>
          <a:prstGeom prst="roundRect">
            <a:avLst>
              <a:gd name="adj" fmla="val 50000"/>
            </a:avLst>
          </a:prstGeom>
          <a:solidFill>
            <a:srgbClr val="DDD8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圆角矩形 176"/>
          <p:cNvSpPr/>
          <p:nvPr/>
        </p:nvSpPr>
        <p:spPr>
          <a:xfrm>
            <a:off x="5838840" y="8753400"/>
            <a:ext cx="18720" cy="75960"/>
          </a:xfrm>
          <a:prstGeom prst="roundRect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920" rIns="90000" bIns="259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三角形 177"/>
          <p:cNvSpPr/>
          <p:nvPr/>
        </p:nvSpPr>
        <p:spPr>
          <a:xfrm rot="10800000">
            <a:off x="5777280" y="8825400"/>
            <a:ext cx="123480" cy="85320"/>
          </a:xfrm>
          <a:prstGeom prst="triangle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圆角矩形 178"/>
          <p:cNvSpPr/>
          <p:nvPr/>
        </p:nvSpPr>
        <p:spPr>
          <a:xfrm>
            <a:off x="190440" y="8915400"/>
            <a:ext cx="11305800" cy="866520"/>
          </a:xfrm>
          <a:prstGeom prst="roundRect">
            <a:avLst>
              <a:gd name="adj" fmla="val 15385"/>
            </a:avLst>
          </a:prstGeom>
          <a:solidFill>
            <a:srgbClr val="F6F4FC"/>
          </a:solidFill>
          <a:ln w="14288">
            <a:solidFill>
              <a:srgbClr val="C3BA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90440" y="8915400"/>
            <a:ext cx="11305800" cy="313920"/>
          </a:xfrm>
          <a:prstGeom prst="roundRect">
            <a:avLst>
              <a:gd name="adj" fmla="val 42424"/>
            </a:avLst>
          </a:prstGeom>
          <a:solidFill>
            <a:srgbClr val="EBE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190440" y="9115560"/>
            <a:ext cx="11305800" cy="114120"/>
          </a:xfrm>
          <a:prstGeom prst="rect">
            <a:avLst/>
          </a:prstGeom>
          <a:solidFill>
            <a:srgbClr val="EBE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椭圆 181"/>
          <p:cNvSpPr/>
          <p:nvPr/>
        </p:nvSpPr>
        <p:spPr>
          <a:xfrm>
            <a:off x="266760" y="8934480"/>
            <a:ext cx="266400" cy="266400"/>
          </a:xfrm>
          <a:prstGeom prst="ellipse">
            <a:avLst/>
          </a:prstGeom>
          <a:solidFill>
            <a:srgbClr val="6D5B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257040" y="895104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695160" y="8938440"/>
            <a:ext cx="476208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E2A5E"/>
                </a:solidFill>
                <a:effectLst/>
                <a:uFillTx/>
                <a:latin typeface="Arial"/>
                <a:ea typeface="Arial"/>
              </a:rPr>
              <a:t>Three controlled falsification tests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圆角矩形 184"/>
          <p:cNvSpPr/>
          <p:nvPr/>
        </p:nvSpPr>
        <p:spPr>
          <a:xfrm>
            <a:off x="623880" y="9291600"/>
            <a:ext cx="352080" cy="352080"/>
          </a:xfrm>
          <a:prstGeom prst="roundRect">
            <a:avLst>
              <a:gd name="adj" fmla="val 8108"/>
            </a:avLst>
          </a:prstGeom>
          <a:noFill/>
          <a:ln w="30480">
            <a:solidFill>
              <a:srgbClr val="7A5F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任意形状 185"/>
          <p:cNvSpPr/>
          <p:nvPr/>
        </p:nvSpPr>
        <p:spPr>
          <a:xfrm>
            <a:off x="645120" y="9439560"/>
            <a:ext cx="239400" cy="147600"/>
          </a:xfrm>
          <a:custGeom>
            <a:avLst/>
            <a:gdLst/>
            <a:ahLst/>
            <a:cxnLst/>
            <a:rect l="l" t="t" r="r" b="b"/>
            <a:pathLst>
              <a:path w="239649" h="148019">
                <a:moveTo>
                  <a:pt x="0" y="148019"/>
                </a:moveTo>
                <a:lnTo>
                  <a:pt x="119824" y="0"/>
                </a:lnTo>
                <a:lnTo>
                  <a:pt x="239649" y="148019"/>
                </a:lnTo>
                <a:close/>
              </a:path>
            </a:pathLst>
          </a:custGeom>
          <a:solidFill>
            <a:srgbClr val="7A5F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任意形状 186"/>
          <p:cNvSpPr/>
          <p:nvPr/>
        </p:nvSpPr>
        <p:spPr>
          <a:xfrm>
            <a:off x="779040" y="9488880"/>
            <a:ext cx="175680" cy="98280"/>
          </a:xfrm>
          <a:custGeom>
            <a:avLst/>
            <a:gdLst/>
            <a:ahLst/>
            <a:cxnLst/>
            <a:rect l="l" t="t" r="r" b="b"/>
            <a:pathLst>
              <a:path w="176213" h="98679">
                <a:moveTo>
                  <a:pt x="0" y="98679"/>
                </a:moveTo>
                <a:lnTo>
                  <a:pt x="84582" y="0"/>
                </a:lnTo>
                <a:lnTo>
                  <a:pt x="176213" y="98679"/>
                </a:lnTo>
                <a:close/>
              </a:path>
            </a:pathLst>
          </a:custGeom>
          <a:solidFill>
            <a:srgbClr val="7A5F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椭圆 187"/>
          <p:cNvSpPr/>
          <p:nvPr/>
        </p:nvSpPr>
        <p:spPr>
          <a:xfrm>
            <a:off x="708480" y="9362160"/>
            <a:ext cx="66600" cy="66600"/>
          </a:xfrm>
          <a:prstGeom prst="ellipse">
            <a:avLst/>
          </a:prstGeom>
          <a:solidFill>
            <a:srgbClr val="7A5F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" rIns="90000" bIns="216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1238400" y="9288000"/>
            <a:ext cx="304776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4A3F8F"/>
                </a:solidFill>
                <a:effectLst/>
                <a:uFillTx/>
                <a:latin typeface="Arial"/>
                <a:ea typeface="Arial"/>
              </a:rPr>
              <a:t>T1  Image domain shift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1238400" y="9496080"/>
            <a:ext cx="30477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Mixed vs. separated training/test.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椭圆 190"/>
          <p:cNvSpPr/>
          <p:nvPr/>
        </p:nvSpPr>
        <p:spPr>
          <a:xfrm>
            <a:off x="4229280" y="9296280"/>
            <a:ext cx="342720" cy="342720"/>
          </a:xfrm>
          <a:prstGeom prst="ellipse">
            <a:avLst/>
          </a:prstGeom>
          <a:noFill/>
          <a:ln w="24765">
            <a:solidFill>
              <a:srgbClr val="7A5F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椭圆 191"/>
          <p:cNvSpPr/>
          <p:nvPr/>
        </p:nvSpPr>
        <p:spPr>
          <a:xfrm>
            <a:off x="4328640" y="9296280"/>
            <a:ext cx="143640" cy="342720"/>
          </a:xfrm>
          <a:prstGeom prst="ellipse">
            <a:avLst/>
          </a:prstGeom>
          <a:noFill/>
          <a:ln w="24765">
            <a:solidFill>
              <a:srgbClr val="7A5F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4238640" y="9385560"/>
            <a:ext cx="323640" cy="24480"/>
          </a:xfrm>
          <a:prstGeom prst="roundRect">
            <a:avLst>
              <a:gd name="adj" fmla="val 50000"/>
            </a:avLst>
          </a:prstGeom>
          <a:solidFill>
            <a:srgbClr val="7A5F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720" rIns="90000" bIns="-2772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圆角矩形 193"/>
          <p:cNvSpPr/>
          <p:nvPr/>
        </p:nvSpPr>
        <p:spPr>
          <a:xfrm>
            <a:off x="4238640" y="9550080"/>
            <a:ext cx="323640" cy="24480"/>
          </a:xfrm>
          <a:prstGeom prst="roundRect">
            <a:avLst>
              <a:gd name="adj" fmla="val 50000"/>
            </a:avLst>
          </a:prstGeom>
          <a:solidFill>
            <a:srgbClr val="7A5F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720" rIns="90000" bIns="-2772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4724280" y="9288000"/>
            <a:ext cx="304776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4A3F8F"/>
                </a:solidFill>
                <a:effectLst/>
                <a:uFillTx/>
                <a:latin typeface="Arial"/>
                <a:ea typeface="Arial"/>
              </a:rPr>
              <a:t>T2  Geography shift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4724280" y="9496080"/>
            <a:ext cx="30477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Cross-region generalization.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8061840" y="9306000"/>
            <a:ext cx="258840" cy="323640"/>
          </a:xfrm>
          <a:prstGeom prst="roundRect">
            <a:avLst>
              <a:gd name="adj" fmla="val 7353"/>
            </a:avLst>
          </a:prstGeom>
          <a:solidFill>
            <a:srgbClr val="7A5FC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圆角矩形 197"/>
          <p:cNvSpPr/>
          <p:nvPr/>
        </p:nvSpPr>
        <p:spPr>
          <a:xfrm>
            <a:off x="8103240" y="9370800"/>
            <a:ext cx="175680" cy="2268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圆角矩形 198"/>
          <p:cNvSpPr/>
          <p:nvPr/>
        </p:nvSpPr>
        <p:spPr>
          <a:xfrm>
            <a:off x="8103240" y="9435600"/>
            <a:ext cx="175680" cy="2268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8103240" y="9500400"/>
            <a:ext cx="175680" cy="2268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8103240" y="9564840"/>
            <a:ext cx="108360" cy="2268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8534520" y="9288000"/>
            <a:ext cx="304776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4A3F8F"/>
                </a:solidFill>
                <a:effectLst/>
                <a:uFillTx/>
                <a:latin typeface="Arial"/>
                <a:ea typeface="Arial"/>
              </a:rPr>
              <a:t>T3  Text leakage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8534520" y="9496080"/>
            <a:ext cx="30477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80" b="1" u="none" strike="noStrike">
                <a:solidFill>
                  <a:srgbClr val="5A6470"/>
                </a:solidFill>
                <a:effectLst/>
                <a:uFillTx/>
                <a:latin typeface="Arial"/>
                <a:ea typeface="Arial"/>
              </a:rPr>
              <a:t>Remove metadata and contextual cues.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圆角矩形 203"/>
          <p:cNvSpPr/>
          <p:nvPr/>
        </p:nvSpPr>
        <p:spPr>
          <a:xfrm>
            <a:off x="7539120" y="9381960"/>
            <a:ext cx="12960" cy="37800"/>
          </a:xfrm>
          <a:prstGeom prst="roundRect">
            <a:avLst>
              <a:gd name="adj" fmla="val 50000"/>
            </a:avLst>
          </a:prstGeom>
          <a:solidFill>
            <a:srgbClr val="E4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7539120" y="9458280"/>
            <a:ext cx="12960" cy="37800"/>
          </a:xfrm>
          <a:prstGeom prst="roundRect">
            <a:avLst>
              <a:gd name="adj" fmla="val 50000"/>
            </a:avLst>
          </a:prstGeom>
          <a:solidFill>
            <a:srgbClr val="E4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圆角矩形 205"/>
          <p:cNvSpPr/>
          <p:nvPr/>
        </p:nvSpPr>
        <p:spPr>
          <a:xfrm>
            <a:off x="7539120" y="9534600"/>
            <a:ext cx="12960" cy="37800"/>
          </a:xfrm>
          <a:prstGeom prst="roundRect">
            <a:avLst>
              <a:gd name="adj" fmla="val 50000"/>
            </a:avLst>
          </a:prstGeom>
          <a:solidFill>
            <a:srgbClr val="E4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圆角矩形 206"/>
          <p:cNvSpPr/>
          <p:nvPr/>
        </p:nvSpPr>
        <p:spPr>
          <a:xfrm>
            <a:off x="7539120" y="9610560"/>
            <a:ext cx="12960" cy="37800"/>
          </a:xfrm>
          <a:prstGeom prst="roundRect">
            <a:avLst>
              <a:gd name="adj" fmla="val 50000"/>
            </a:avLst>
          </a:prstGeom>
          <a:solidFill>
            <a:srgbClr val="E4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7539120" y="9686880"/>
            <a:ext cx="12960" cy="37800"/>
          </a:xfrm>
          <a:prstGeom prst="roundRect">
            <a:avLst>
              <a:gd name="adj" fmla="val 50000"/>
            </a:avLst>
          </a:prstGeom>
          <a:solidFill>
            <a:srgbClr val="E4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0800" rIns="90000" bIns="-10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圆角矩形 208"/>
          <p:cNvSpPr/>
          <p:nvPr/>
        </p:nvSpPr>
        <p:spPr>
          <a:xfrm>
            <a:off x="5838840" y="9791640"/>
            <a:ext cx="18720" cy="75960"/>
          </a:xfrm>
          <a:prstGeom prst="roundRect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920" rIns="90000" bIns="259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三角形 209"/>
          <p:cNvSpPr/>
          <p:nvPr/>
        </p:nvSpPr>
        <p:spPr>
          <a:xfrm rot="10800000">
            <a:off x="5777280" y="9863640"/>
            <a:ext cx="123480" cy="85320"/>
          </a:xfrm>
          <a:prstGeom prst="triangle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圆角矩形 210"/>
          <p:cNvSpPr/>
          <p:nvPr/>
        </p:nvSpPr>
        <p:spPr>
          <a:xfrm>
            <a:off x="190440" y="9934560"/>
            <a:ext cx="11305800" cy="99972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4288">
            <a:solidFill>
              <a:srgbClr val="90B1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椭圆 211"/>
          <p:cNvSpPr/>
          <p:nvPr/>
        </p:nvSpPr>
        <p:spPr>
          <a:xfrm>
            <a:off x="266760" y="9944280"/>
            <a:ext cx="266400" cy="266400"/>
          </a:xfrm>
          <a:prstGeom prst="ellipse">
            <a:avLst/>
          </a:prstGeom>
          <a:solidFill>
            <a:srgbClr val="2E6DA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257040" y="996084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矩形 213"/>
          <p:cNvSpPr/>
          <p:nvPr/>
        </p:nvSpPr>
        <p:spPr>
          <a:xfrm>
            <a:off x="714240" y="9957600"/>
            <a:ext cx="380952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B4E7A"/>
                </a:solidFill>
                <a:effectLst/>
                <a:uFillTx/>
                <a:latin typeface="Arial"/>
                <a:ea typeface="Arial"/>
              </a:rPr>
              <a:t>Benchmark ≠ Deployment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任意形状 214"/>
          <p:cNvSpPr/>
          <p:nvPr/>
        </p:nvSpPr>
        <p:spPr>
          <a:xfrm>
            <a:off x="666720" y="10391760"/>
            <a:ext cx="323640" cy="32364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161925" y="0"/>
                </a:moveTo>
                <a:lnTo>
                  <a:pt x="323850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2E6DA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812520" y="10521360"/>
            <a:ext cx="32040" cy="10980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椭圆 216"/>
          <p:cNvSpPr/>
          <p:nvPr/>
        </p:nvSpPr>
        <p:spPr>
          <a:xfrm>
            <a:off x="810720" y="10644480"/>
            <a:ext cx="35280" cy="35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733320" y="10278360"/>
            <a:ext cx="247608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High benchmark accuracy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733320" y="10449720"/>
            <a:ext cx="247608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*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733320" y="10621440"/>
            <a:ext cx="247608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Field-ready identification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圆角矩形 220"/>
          <p:cNvSpPr/>
          <p:nvPr/>
        </p:nvSpPr>
        <p:spPr>
          <a:xfrm>
            <a:off x="3733920" y="1004904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3733920" y="1014408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3733920" y="1023948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圆角矩形 223"/>
          <p:cNvSpPr/>
          <p:nvPr/>
        </p:nvSpPr>
        <p:spPr>
          <a:xfrm>
            <a:off x="3733920" y="1033452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3733920" y="1042992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圆角矩形 225"/>
          <p:cNvSpPr/>
          <p:nvPr/>
        </p:nvSpPr>
        <p:spPr>
          <a:xfrm>
            <a:off x="3733920" y="1052496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3733920" y="1062036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圆角矩形 227"/>
          <p:cNvSpPr/>
          <p:nvPr/>
        </p:nvSpPr>
        <p:spPr>
          <a:xfrm>
            <a:off x="3733920" y="1071576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圆角矩形 228"/>
          <p:cNvSpPr/>
          <p:nvPr/>
        </p:nvSpPr>
        <p:spPr>
          <a:xfrm>
            <a:off x="3733920" y="10810800"/>
            <a:ext cx="14760" cy="47160"/>
          </a:xfrm>
          <a:prstGeom prst="roundRect">
            <a:avLst>
              <a:gd name="adj" fmla="val 50000"/>
            </a:avLst>
          </a:prstGeom>
          <a:solidFill>
            <a:srgbClr val="9AAC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椭圆 229"/>
          <p:cNvSpPr/>
          <p:nvPr/>
        </p:nvSpPr>
        <p:spPr>
          <a:xfrm>
            <a:off x="3848040" y="9944280"/>
            <a:ext cx="266400" cy="266400"/>
          </a:xfrm>
          <a:prstGeom prst="ellipse">
            <a:avLst/>
          </a:prstGeom>
          <a:solidFill>
            <a:srgbClr val="2E6DA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3838680" y="996084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4295880" y="9957600"/>
            <a:ext cx="533376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B4E7A"/>
                </a:solidFill>
                <a:effectLst/>
                <a:uFillTx/>
                <a:latin typeface="Arial"/>
                <a:ea typeface="Arial"/>
              </a:rPr>
              <a:t>Open-set rejection and selective acceptance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4019400" y="10258560"/>
            <a:ext cx="1571400" cy="571320"/>
          </a:xfrm>
          <a:prstGeom prst="roundRect">
            <a:avLst>
              <a:gd name="adj" fmla="val 16667"/>
            </a:avLst>
          </a:prstGeom>
          <a:solidFill>
            <a:srgbClr val="E5F3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4410000" y="10301400"/>
            <a:ext cx="180720" cy="180720"/>
          </a:xfrm>
          <a:prstGeom prst="ellipse">
            <a:avLst/>
          </a:prstGeom>
          <a:solidFill>
            <a:srgbClr val="3E9E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任意形状 234"/>
          <p:cNvSpPr/>
          <p:nvPr/>
        </p:nvSpPr>
        <p:spPr>
          <a:xfrm>
            <a:off x="4460760" y="10337400"/>
            <a:ext cx="86400" cy="88200"/>
          </a:xfrm>
          <a:custGeom>
            <a:avLst/>
            <a:gdLst/>
            <a:ahLst/>
            <a:cxnLst/>
            <a:rect l="l" t="t" r="r" b="b"/>
            <a:pathLst>
              <a:path w="86868" h="88678">
                <a:moveTo>
                  <a:pt x="0" y="57912"/>
                </a:moveTo>
                <a:lnTo>
                  <a:pt x="30766" y="88678"/>
                </a:lnTo>
                <a:lnTo>
                  <a:pt x="86868" y="21717"/>
                </a:lnTo>
                <a:lnTo>
                  <a:pt x="68771" y="0"/>
                </a:lnTo>
                <a:lnTo>
                  <a:pt x="30766" y="65151"/>
                </a:lnTo>
                <a:lnTo>
                  <a:pt x="16288" y="4162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矩形 235"/>
          <p:cNvSpPr/>
          <p:nvPr/>
        </p:nvSpPr>
        <p:spPr>
          <a:xfrm>
            <a:off x="4505400" y="10278360"/>
            <a:ext cx="83772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2E8B57"/>
                </a:solidFill>
                <a:effectLst/>
                <a:uFillTx/>
                <a:latin typeface="Arial"/>
                <a:ea typeface="Arial"/>
              </a:rPr>
              <a:t>ACCEPT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4067280" y="10467360"/>
            <a:ext cx="147600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High confidence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4067280" y="10620000"/>
            <a:ext cx="147600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in-domain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5848200" y="10258560"/>
            <a:ext cx="1590480" cy="571320"/>
          </a:xfrm>
          <a:prstGeom prst="roundRect">
            <a:avLst>
              <a:gd name="adj" fmla="val 16667"/>
            </a:avLst>
          </a:prstGeom>
          <a:solidFill>
            <a:srgbClr val="EFF0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椭圆 239"/>
          <p:cNvSpPr/>
          <p:nvPr/>
        </p:nvSpPr>
        <p:spPr>
          <a:xfrm>
            <a:off x="6205680" y="10301400"/>
            <a:ext cx="180720" cy="180720"/>
          </a:xfrm>
          <a:prstGeom prst="ellipse">
            <a:avLst/>
          </a:prstGeom>
          <a:solidFill>
            <a:srgbClr val="5F6A7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6245280" y="10380960"/>
            <a:ext cx="101160" cy="21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9520" rIns="90000" bIns="-295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矩形 241"/>
          <p:cNvSpPr/>
          <p:nvPr/>
        </p:nvSpPr>
        <p:spPr>
          <a:xfrm>
            <a:off x="6300720" y="10278360"/>
            <a:ext cx="92340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4A5560"/>
                </a:solidFill>
                <a:effectLst/>
                <a:uFillTx/>
                <a:latin typeface="Arial"/>
                <a:ea typeface="Arial"/>
              </a:rPr>
              <a:t>ABSTAIN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矩形 242"/>
          <p:cNvSpPr/>
          <p:nvPr/>
        </p:nvSpPr>
        <p:spPr>
          <a:xfrm>
            <a:off x="5896080" y="10467360"/>
            <a:ext cx="149508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Uncertain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5896080" y="10620000"/>
            <a:ext cx="149508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/ low confidence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7686720" y="10258560"/>
            <a:ext cx="1590480" cy="571320"/>
          </a:xfrm>
          <a:prstGeom prst="roundRect">
            <a:avLst>
              <a:gd name="adj" fmla="val 16667"/>
            </a:avLst>
          </a:prstGeom>
          <a:solidFill>
            <a:srgbClr val="F9E8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椭圆 245"/>
          <p:cNvSpPr/>
          <p:nvPr/>
        </p:nvSpPr>
        <p:spPr>
          <a:xfrm>
            <a:off x="8086680" y="10301400"/>
            <a:ext cx="180720" cy="180720"/>
          </a:xfrm>
          <a:prstGeom prst="ellipse">
            <a:avLst/>
          </a:prstGeom>
          <a:solidFill>
            <a:srgbClr val="C4304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矩形 246"/>
          <p:cNvSpPr/>
          <p:nvPr/>
        </p:nvSpPr>
        <p:spPr>
          <a:xfrm rot="2700000">
            <a:off x="8121240" y="10378800"/>
            <a:ext cx="111960" cy="24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矩形 247"/>
          <p:cNvSpPr/>
          <p:nvPr/>
        </p:nvSpPr>
        <p:spPr>
          <a:xfrm rot="18900000">
            <a:off x="8120520" y="10378800"/>
            <a:ext cx="111960" cy="24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矩形 248"/>
          <p:cNvSpPr/>
          <p:nvPr/>
        </p:nvSpPr>
        <p:spPr>
          <a:xfrm>
            <a:off x="8182080" y="10278360"/>
            <a:ext cx="83772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C0395B"/>
                </a:solidFill>
                <a:effectLst/>
                <a:uFillTx/>
                <a:latin typeface="Arial"/>
                <a:ea typeface="Arial"/>
              </a:rPr>
              <a:t>REJECT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矩形 249"/>
          <p:cNvSpPr/>
          <p:nvPr/>
        </p:nvSpPr>
        <p:spPr>
          <a:xfrm>
            <a:off x="7734240" y="10467360"/>
            <a:ext cx="149508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Out-of-domain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7734240" y="10620000"/>
            <a:ext cx="149508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/ novel species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圆角矩形 251"/>
          <p:cNvSpPr/>
          <p:nvPr/>
        </p:nvSpPr>
        <p:spPr>
          <a:xfrm>
            <a:off x="9543960" y="10258560"/>
            <a:ext cx="1628280" cy="571320"/>
          </a:xfrm>
          <a:prstGeom prst="roundRect">
            <a:avLst>
              <a:gd name="adj" fmla="val 16667"/>
            </a:avLst>
          </a:prstGeom>
          <a:solidFill>
            <a:srgbClr val="E9E6F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椭圆 252"/>
          <p:cNvSpPr/>
          <p:nvPr/>
        </p:nvSpPr>
        <p:spPr>
          <a:xfrm>
            <a:off x="9694440" y="10372680"/>
            <a:ext cx="174960" cy="174960"/>
          </a:xfrm>
          <a:prstGeom prst="ellipse">
            <a:avLst/>
          </a:prstGeom>
          <a:solidFill>
            <a:srgbClr val="6D4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591840" y="10464120"/>
            <a:ext cx="380520" cy="171000"/>
          </a:xfrm>
          <a:prstGeom prst="rect">
            <a:avLst/>
          </a:prstGeom>
          <a:solidFill>
            <a:srgbClr val="E9E6F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椭圆 254"/>
          <p:cNvSpPr/>
          <p:nvPr/>
        </p:nvSpPr>
        <p:spPr>
          <a:xfrm>
            <a:off x="9742320" y="10304280"/>
            <a:ext cx="79560" cy="79560"/>
          </a:xfrm>
          <a:prstGeom prst="ellipse">
            <a:avLst/>
          </a:prstGeom>
          <a:solidFill>
            <a:srgbClr val="6D4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1520" rIns="90000" bIns="1152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矩形 255"/>
          <p:cNvSpPr/>
          <p:nvPr/>
        </p:nvSpPr>
        <p:spPr>
          <a:xfrm>
            <a:off x="9786960" y="10278360"/>
            <a:ext cx="138060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5B3FA8"/>
                </a:solidFill>
                <a:effectLst/>
                <a:uFillTx/>
                <a:latin typeface="Arial"/>
                <a:ea typeface="Arial"/>
              </a:rPr>
              <a:t>HUMAN REVIEW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矩形 256"/>
          <p:cNvSpPr/>
          <p:nvPr/>
        </p:nvSpPr>
        <p:spPr>
          <a:xfrm>
            <a:off x="9591840" y="10467360"/>
            <a:ext cx="153324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Expert verification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9591840" y="10620000"/>
            <a:ext cx="153324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8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for critical cases</a:t>
            </a:r>
            <a:endParaRPr lang="en-US" sz="98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圆角矩形 258"/>
          <p:cNvSpPr/>
          <p:nvPr/>
        </p:nvSpPr>
        <p:spPr>
          <a:xfrm>
            <a:off x="5629320" y="10544040"/>
            <a:ext cx="132840" cy="18720"/>
          </a:xfrm>
          <a:prstGeom prst="roundRect">
            <a:avLst>
              <a:gd name="adj" fmla="val 50000"/>
            </a:avLst>
          </a:prstGeom>
          <a:solidFill>
            <a:srgbClr val="A8BEC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三角形 259"/>
          <p:cNvSpPr/>
          <p:nvPr/>
        </p:nvSpPr>
        <p:spPr>
          <a:xfrm rot="5400000">
            <a:off x="5715000" y="10496520"/>
            <a:ext cx="114120" cy="95040"/>
          </a:xfrm>
          <a:prstGeom prst="triangle">
            <a:avLst>
              <a:gd name="adj" fmla="val 50000"/>
            </a:avLst>
          </a:prstGeom>
          <a:solidFill>
            <a:srgbClr val="A8BEC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" rIns="90000" bIns="288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7467480" y="10544040"/>
            <a:ext cx="132840" cy="18720"/>
          </a:xfrm>
          <a:prstGeom prst="roundRect">
            <a:avLst>
              <a:gd name="adj" fmla="val 50000"/>
            </a:avLst>
          </a:prstGeom>
          <a:solidFill>
            <a:srgbClr val="A8BEC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三角形 261"/>
          <p:cNvSpPr/>
          <p:nvPr/>
        </p:nvSpPr>
        <p:spPr>
          <a:xfrm rot="5400000">
            <a:off x="7553520" y="10496520"/>
            <a:ext cx="114120" cy="95040"/>
          </a:xfrm>
          <a:prstGeom prst="triangle">
            <a:avLst>
              <a:gd name="adj" fmla="val 50000"/>
            </a:avLst>
          </a:prstGeom>
          <a:solidFill>
            <a:srgbClr val="A8BEC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" rIns="90000" bIns="288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306000" y="10544040"/>
            <a:ext cx="142560" cy="18720"/>
          </a:xfrm>
          <a:prstGeom prst="roundRect">
            <a:avLst>
              <a:gd name="adj" fmla="val 50000"/>
            </a:avLst>
          </a:prstGeom>
          <a:solidFill>
            <a:srgbClr val="A8BEC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三角形 263"/>
          <p:cNvSpPr/>
          <p:nvPr/>
        </p:nvSpPr>
        <p:spPr>
          <a:xfrm rot="5400000">
            <a:off x="9401040" y="10496520"/>
            <a:ext cx="114120" cy="95040"/>
          </a:xfrm>
          <a:prstGeom prst="triangle">
            <a:avLst>
              <a:gd name="adj" fmla="val 50000"/>
            </a:avLst>
          </a:prstGeom>
          <a:solidFill>
            <a:srgbClr val="A8BEC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" rIns="90000" bIns="288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5838840" y="10944360"/>
            <a:ext cx="18720" cy="66240"/>
          </a:xfrm>
          <a:prstGeom prst="roundRect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200" rIns="90000" bIns="162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三角形 265"/>
          <p:cNvSpPr/>
          <p:nvPr/>
        </p:nvSpPr>
        <p:spPr>
          <a:xfrm rot="10800000">
            <a:off x="5777280" y="11006640"/>
            <a:ext cx="123480" cy="85320"/>
          </a:xfrm>
          <a:prstGeom prst="triangle">
            <a:avLst>
              <a:gd name="adj" fmla="val 50000"/>
            </a:avLst>
          </a:prstGeom>
          <a:solidFill>
            <a:srgbClr val="8FA9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60" rIns="90000" bIns="-216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圆角矩形 266"/>
          <p:cNvSpPr/>
          <p:nvPr/>
        </p:nvSpPr>
        <p:spPr>
          <a:xfrm>
            <a:off x="190440" y="11077560"/>
            <a:ext cx="11305800" cy="980640"/>
          </a:xfrm>
          <a:prstGeom prst="roundRect">
            <a:avLst>
              <a:gd name="adj" fmla="val 13592"/>
            </a:avLst>
          </a:prstGeom>
          <a:solidFill>
            <a:srgbClr val="EDF7F5"/>
          </a:solidFill>
          <a:ln w="14288">
            <a:solidFill>
              <a:srgbClr val="8FC8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图片 267"/>
          <p:cNvPicPr/>
          <p:nvPr/>
        </p:nvPicPr>
        <p:blipFill>
          <a:blip r:embed="rId8"/>
          <a:stretch/>
        </p:blipFill>
        <p:spPr>
          <a:xfrm>
            <a:off x="10096560" y="11077560"/>
            <a:ext cx="1409400" cy="98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椭圆 268"/>
          <p:cNvSpPr/>
          <p:nvPr/>
        </p:nvSpPr>
        <p:spPr>
          <a:xfrm>
            <a:off x="266760" y="11087280"/>
            <a:ext cx="266400" cy="266400"/>
          </a:xfrm>
          <a:prstGeom prst="ellipse">
            <a:avLst/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矩形 269"/>
          <p:cNvSpPr/>
          <p:nvPr/>
        </p:nvSpPr>
        <p:spPr>
          <a:xfrm>
            <a:off x="257040" y="11103840"/>
            <a:ext cx="285480" cy="2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13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矩形 270"/>
          <p:cNvSpPr/>
          <p:nvPr/>
        </p:nvSpPr>
        <p:spPr>
          <a:xfrm>
            <a:off x="714240" y="11100600"/>
            <a:ext cx="400032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A7A78"/>
                </a:solidFill>
                <a:effectLst/>
                <a:uFillTx/>
                <a:latin typeface="Arial"/>
                <a:ea typeface="Arial"/>
              </a:rPr>
              <a:t>Deployment decision pipeline</a:t>
            </a:r>
            <a:endParaRPr lang="en-US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任意形状 271"/>
          <p:cNvSpPr/>
          <p:nvPr/>
        </p:nvSpPr>
        <p:spPr>
          <a:xfrm>
            <a:off x="822600" y="11548440"/>
            <a:ext cx="259560" cy="277200"/>
          </a:xfrm>
          <a:custGeom>
            <a:avLst/>
            <a:gdLst/>
            <a:ahLst/>
            <a:cxnLst/>
            <a:rect l="l" t="t" r="r" b="b"/>
            <a:pathLst>
              <a:path w="259884" h="277431">
                <a:moveTo>
                  <a:pt x="26104" y="262466"/>
                </a:moveTo>
                <a:lnTo>
                  <a:pt x="995" y="206250"/>
                </a:lnTo>
                <a:lnTo>
                  <a:pt x="0" y="170268"/>
                </a:lnTo>
                <a:lnTo>
                  <a:pt x="5327" y="139592"/>
                </a:lnTo>
                <a:lnTo>
                  <a:pt x="14832" y="112421"/>
                </a:lnTo>
                <a:lnTo>
                  <a:pt x="27692" y="88065"/>
                </a:lnTo>
                <a:lnTo>
                  <a:pt x="43551" y="66225"/>
                </a:lnTo>
                <a:lnTo>
                  <a:pt x="62305" y="46815"/>
                </a:lnTo>
                <a:lnTo>
                  <a:pt x="84058" y="29921"/>
                </a:lnTo>
                <a:lnTo>
                  <a:pt x="109166" y="15842"/>
                </a:lnTo>
                <a:lnTo>
                  <a:pt x="138451" y="5269"/>
                </a:lnTo>
                <a:lnTo>
                  <a:pt x="174059" y="0"/>
                </a:lnTo>
                <a:lnTo>
                  <a:pt x="233781" y="14966"/>
                </a:lnTo>
                <a:lnTo>
                  <a:pt x="233781" y="14966"/>
                </a:lnTo>
                <a:lnTo>
                  <a:pt x="258890" y="71182"/>
                </a:lnTo>
                <a:lnTo>
                  <a:pt x="259884" y="107163"/>
                </a:lnTo>
                <a:lnTo>
                  <a:pt x="254557" y="137840"/>
                </a:lnTo>
                <a:lnTo>
                  <a:pt x="245052" y="165011"/>
                </a:lnTo>
                <a:lnTo>
                  <a:pt x="232192" y="189367"/>
                </a:lnTo>
                <a:lnTo>
                  <a:pt x="216334" y="211207"/>
                </a:lnTo>
                <a:lnTo>
                  <a:pt x="197579" y="230617"/>
                </a:lnTo>
                <a:lnTo>
                  <a:pt x="175826" y="247511"/>
                </a:lnTo>
                <a:lnTo>
                  <a:pt x="150718" y="261589"/>
                </a:lnTo>
                <a:lnTo>
                  <a:pt x="121433" y="272163"/>
                </a:lnTo>
                <a:lnTo>
                  <a:pt x="85826" y="277431"/>
                </a:lnTo>
                <a:lnTo>
                  <a:pt x="26104" y="262466"/>
                </a:lnTo>
                <a:close/>
              </a:path>
            </a:pathLst>
          </a:cu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矩形 272"/>
          <p:cNvSpPr/>
          <p:nvPr/>
        </p:nvSpPr>
        <p:spPr>
          <a:xfrm rot="18600000">
            <a:off x="732240" y="11849400"/>
            <a:ext cx="144720" cy="26280"/>
          </a:xfrm>
          <a:prstGeom prst="rect">
            <a:avLst/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8360" rIns="90000" bIns="-1836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矩形 273"/>
          <p:cNvSpPr/>
          <p:nvPr/>
        </p:nvSpPr>
        <p:spPr>
          <a:xfrm rot="18600000">
            <a:off x="813960" y="11693160"/>
            <a:ext cx="251640" cy="16920"/>
          </a:xfrm>
          <a:prstGeom prst="rect">
            <a:avLst/>
          </a:prstGeom>
          <a:solidFill>
            <a:srgbClr val="E8F6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720" rIns="90000" bIns="-277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矩形 274"/>
          <p:cNvSpPr/>
          <p:nvPr/>
        </p:nvSpPr>
        <p:spPr>
          <a:xfrm>
            <a:off x="1238400" y="11583360"/>
            <a:ext cx="133308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B7B78"/>
                </a:solidFill>
                <a:effectLst/>
                <a:uFillTx/>
                <a:latin typeface="Arial"/>
                <a:ea typeface="Arial"/>
              </a:rPr>
              <a:t>Field data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2333520" y="11696760"/>
            <a:ext cx="209160" cy="18720"/>
          </a:xfrm>
          <a:prstGeom prst="roundRect">
            <a:avLst>
              <a:gd name="adj" fmla="val 50000"/>
            </a:avLst>
          </a:prstGeom>
          <a:solidFill>
            <a:srgbClr val="A8C4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三角形 276"/>
          <p:cNvSpPr/>
          <p:nvPr/>
        </p:nvSpPr>
        <p:spPr>
          <a:xfrm rot="5400000">
            <a:off x="2495520" y="11648880"/>
            <a:ext cx="114120" cy="95040"/>
          </a:xfrm>
          <a:prstGeom prst="triangle">
            <a:avLst>
              <a:gd name="adj" fmla="val 50000"/>
            </a:avLst>
          </a:prstGeom>
          <a:solidFill>
            <a:srgbClr val="A8C4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" rIns="90000" bIns="288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圆柱体 277"/>
          <p:cNvSpPr/>
          <p:nvPr/>
        </p:nvSpPr>
        <p:spPr>
          <a:xfrm>
            <a:off x="3028680" y="11515680"/>
            <a:ext cx="267120" cy="342720"/>
          </a:xfrm>
          <a:prstGeom prst="can">
            <a:avLst>
              <a:gd name="adj" fmla="val 25000"/>
            </a:avLst>
          </a:prstGeom>
          <a:noFill/>
          <a:ln w="24765">
            <a:solidFill>
              <a:srgbClr val="1E8C8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圆角矩形 278"/>
          <p:cNvSpPr/>
          <p:nvPr/>
        </p:nvSpPr>
        <p:spPr>
          <a:xfrm>
            <a:off x="3038040" y="11642760"/>
            <a:ext cx="248040" cy="22680"/>
          </a:xfrm>
          <a:prstGeom prst="roundRect">
            <a:avLst>
              <a:gd name="adj" fmla="val 50000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圆角矩形 279"/>
          <p:cNvSpPr/>
          <p:nvPr/>
        </p:nvSpPr>
        <p:spPr>
          <a:xfrm>
            <a:off x="3038040" y="11755800"/>
            <a:ext cx="248040" cy="22680"/>
          </a:xfrm>
          <a:prstGeom prst="roundRect">
            <a:avLst>
              <a:gd name="adj" fmla="val 50000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椭圆 280"/>
          <p:cNvSpPr/>
          <p:nvPr/>
        </p:nvSpPr>
        <p:spPr>
          <a:xfrm>
            <a:off x="3028680" y="11515680"/>
            <a:ext cx="267120" cy="75240"/>
          </a:xfrm>
          <a:prstGeom prst="ellipse">
            <a:avLst/>
          </a:prstGeom>
          <a:noFill/>
          <a:ln w="22860">
            <a:solidFill>
              <a:srgbClr val="1E8C8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3352680" y="11583360"/>
            <a:ext cx="190476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B7B78"/>
                </a:solidFill>
                <a:effectLst/>
                <a:uFillTx/>
                <a:latin typeface="Arial"/>
                <a:ea typeface="Arial"/>
              </a:rPr>
              <a:t>Model inference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4686480" y="11696760"/>
            <a:ext cx="209160" cy="18720"/>
          </a:xfrm>
          <a:prstGeom prst="roundRect">
            <a:avLst>
              <a:gd name="adj" fmla="val 50000"/>
            </a:avLst>
          </a:prstGeom>
          <a:solidFill>
            <a:srgbClr val="A8C4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三角形 283"/>
          <p:cNvSpPr/>
          <p:nvPr/>
        </p:nvSpPr>
        <p:spPr>
          <a:xfrm rot="5400000">
            <a:off x="4848120" y="11648880"/>
            <a:ext cx="114120" cy="95040"/>
          </a:xfrm>
          <a:prstGeom prst="triangle">
            <a:avLst>
              <a:gd name="adj" fmla="val 50000"/>
            </a:avLst>
          </a:prstGeom>
          <a:solidFill>
            <a:srgbClr val="A8C4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" rIns="90000" bIns="288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任意形状 284"/>
          <p:cNvSpPr/>
          <p:nvPr/>
        </p:nvSpPr>
        <p:spPr>
          <a:xfrm>
            <a:off x="5197320" y="11506320"/>
            <a:ext cx="311040" cy="361440"/>
          </a:xfrm>
          <a:custGeom>
            <a:avLst/>
            <a:gdLst/>
            <a:ahLst/>
            <a:cxnLst/>
            <a:rect l="l" t="t" r="r" b="b"/>
            <a:pathLst>
              <a:path w="311277" h="361950">
                <a:moveTo>
                  <a:pt x="0" y="0"/>
                </a:moveTo>
                <a:lnTo>
                  <a:pt x="311277" y="0"/>
                </a:lnTo>
                <a:lnTo>
                  <a:pt x="311277" y="188214"/>
                </a:lnTo>
                <a:lnTo>
                  <a:pt x="155639" y="361950"/>
                </a:lnTo>
                <a:lnTo>
                  <a:pt x="0" y="188214"/>
                </a:lnTo>
                <a:close/>
              </a:path>
            </a:pathLst>
          </a:custGeom>
          <a:solidFill>
            <a:srgbClr val="7CC0B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任意形状 285"/>
          <p:cNvSpPr/>
          <p:nvPr/>
        </p:nvSpPr>
        <p:spPr>
          <a:xfrm>
            <a:off x="5353200" y="11506320"/>
            <a:ext cx="155160" cy="361440"/>
          </a:xfrm>
          <a:custGeom>
            <a:avLst/>
            <a:gdLst/>
            <a:ahLst/>
            <a:cxnLst/>
            <a:rect l="l" t="t" r="r" b="b"/>
            <a:pathLst>
              <a:path w="155638" h="361950">
                <a:moveTo>
                  <a:pt x="0" y="0"/>
                </a:moveTo>
                <a:lnTo>
                  <a:pt x="155638" y="0"/>
                </a:lnTo>
                <a:lnTo>
                  <a:pt x="155638" y="188214"/>
                </a:lnTo>
                <a:lnTo>
                  <a:pt x="0" y="361950"/>
                </a:lnTo>
                <a:close/>
              </a:path>
            </a:pathLst>
          </a:cu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矩形 286"/>
          <p:cNvSpPr/>
          <p:nvPr/>
        </p:nvSpPr>
        <p:spPr>
          <a:xfrm>
            <a:off x="5619600" y="11583360"/>
            <a:ext cx="190476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B7B78"/>
                </a:solidFill>
                <a:effectLst/>
                <a:uFillTx/>
                <a:latin typeface="Arial"/>
                <a:ea typeface="Arial"/>
              </a:rPr>
              <a:t>Risk assessment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圆角矩形 287"/>
          <p:cNvSpPr/>
          <p:nvPr/>
        </p:nvSpPr>
        <p:spPr>
          <a:xfrm>
            <a:off x="7067520" y="11696760"/>
            <a:ext cx="209160" cy="18720"/>
          </a:xfrm>
          <a:prstGeom prst="roundRect">
            <a:avLst>
              <a:gd name="adj" fmla="val 50000"/>
            </a:avLst>
          </a:prstGeom>
          <a:solidFill>
            <a:srgbClr val="A8C4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三角形 288"/>
          <p:cNvSpPr/>
          <p:nvPr/>
        </p:nvSpPr>
        <p:spPr>
          <a:xfrm rot="5400000">
            <a:off x="7229520" y="11648880"/>
            <a:ext cx="114120" cy="95040"/>
          </a:xfrm>
          <a:prstGeom prst="triangle">
            <a:avLst>
              <a:gd name="adj" fmla="val 50000"/>
            </a:avLst>
          </a:prstGeom>
          <a:solidFill>
            <a:srgbClr val="A8C4C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80" rIns="90000" bIns="288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7741800" y="11527920"/>
            <a:ext cx="289080" cy="339840"/>
          </a:xfrm>
          <a:prstGeom prst="roundRect">
            <a:avLst>
              <a:gd name="adj" fmla="val 9868"/>
            </a:avLst>
          </a:prstGeom>
          <a:noFill/>
          <a:ln w="26670">
            <a:solidFill>
              <a:srgbClr val="1E8C8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7823160" y="11502720"/>
            <a:ext cx="127080" cy="46800"/>
          </a:xfrm>
          <a:prstGeom prst="roundRect">
            <a:avLst>
              <a:gd name="adj" fmla="val 40486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9000" rIns="90000" bIns="-90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圆角矩形 291"/>
          <p:cNvSpPr/>
          <p:nvPr/>
        </p:nvSpPr>
        <p:spPr>
          <a:xfrm>
            <a:off x="7823160" y="11650320"/>
            <a:ext cx="40320" cy="36000"/>
          </a:xfrm>
          <a:prstGeom prst="roundRect">
            <a:avLst>
              <a:gd name="adj" fmla="val 31579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480" rIns="90000" bIns="-1548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圆角矩形 292"/>
          <p:cNvSpPr/>
          <p:nvPr/>
        </p:nvSpPr>
        <p:spPr>
          <a:xfrm>
            <a:off x="7863480" y="11617920"/>
            <a:ext cx="80640" cy="68400"/>
          </a:xfrm>
          <a:prstGeom prst="roundRect">
            <a:avLst>
              <a:gd name="adj" fmla="val 16620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圆角矩形 293"/>
          <p:cNvSpPr/>
          <p:nvPr/>
        </p:nvSpPr>
        <p:spPr>
          <a:xfrm>
            <a:off x="7846200" y="11650320"/>
            <a:ext cx="144360" cy="22680"/>
          </a:xfrm>
          <a:prstGeom prst="roundRect">
            <a:avLst>
              <a:gd name="adj" fmla="val 50000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圆角矩形 294"/>
          <p:cNvSpPr/>
          <p:nvPr/>
        </p:nvSpPr>
        <p:spPr>
          <a:xfrm>
            <a:off x="7823160" y="11759400"/>
            <a:ext cx="40320" cy="36000"/>
          </a:xfrm>
          <a:prstGeom prst="roundRect">
            <a:avLst>
              <a:gd name="adj" fmla="val 31579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5480" rIns="90000" bIns="-1548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7863480" y="11726640"/>
            <a:ext cx="80640" cy="68400"/>
          </a:xfrm>
          <a:prstGeom prst="roundRect">
            <a:avLst>
              <a:gd name="adj" fmla="val 16620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7846200" y="11759400"/>
            <a:ext cx="144360" cy="22680"/>
          </a:xfrm>
          <a:prstGeom prst="roundRect">
            <a:avLst>
              <a:gd name="adj" fmla="val 50000"/>
            </a:avLst>
          </a:prstGeom>
          <a:solidFill>
            <a:srgbClr val="1E8C8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矩形 297"/>
          <p:cNvSpPr/>
          <p:nvPr/>
        </p:nvSpPr>
        <p:spPr>
          <a:xfrm>
            <a:off x="8115480" y="11497680"/>
            <a:ext cx="209520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u="none" strike="noStrike">
                <a:solidFill>
                  <a:srgbClr val="1B7B78"/>
                </a:solidFill>
                <a:effectLst/>
                <a:uFillTx/>
                <a:latin typeface="Arial"/>
                <a:ea typeface="Arial"/>
              </a:rPr>
              <a:t>Final decision</a:t>
            </a:r>
            <a:endParaRPr lang="en-US" sz="10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8115480" y="11731320"/>
            <a:ext cx="2285640" cy="1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820" b="1" u="none" strike="noStrike">
                <a:solidFill>
                  <a:srgbClr val="33454F"/>
                </a:solidFill>
                <a:effectLst/>
                <a:uFillTx/>
                <a:latin typeface="Arial"/>
                <a:ea typeface="Arial"/>
              </a:rPr>
              <a:t>(accept / abstain / reject / review)</a:t>
            </a:r>
            <a:endParaRPr lang="en-US" sz="82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338</Words>
  <Application>Microsoft Macintosh PowerPoint</Application>
  <PresentationFormat>自定义</PresentationFormat>
  <Paragraphs>99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 Light</vt:lpstr>
      <vt:lpstr>Georgia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子豪 黄</cp:lastModifiedBy>
  <cp:revision>1</cp:revision>
  <dcterms:created xsi:type="dcterms:W3CDTF">2026-10-16T05:42:02Z</dcterms:created>
  <dcterms:modified xsi:type="dcterms:W3CDTF">2026-10-16T10:40:08Z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